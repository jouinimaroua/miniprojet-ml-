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Diabète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087-4398-8AF6-F028ACECDD27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87-4398-8AF6-F028ACECDD2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87-4398-8AF6-F028ACECDD2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87-4398-8AF6-F028ACECDD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 Diabétiques (0)  65.1%</c:v>
                </c:pt>
                <c:pt idx="1">
                  <c:v>Diabétiques (1)  34.9%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87-4398-8AF6-F028ACECDD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Rnd Forest</c:v>
                </c:pt>
                <c:pt idx="2">
                  <c:v>SVM</c:v>
                </c:pt>
                <c:pt idx="3">
                  <c:v>Rég. Log.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0.67310000000000003</c:v>
                </c:pt>
                <c:pt idx="1">
                  <c:v>0.63370000000000004</c:v>
                </c:pt>
                <c:pt idx="2">
                  <c:v>0.62860000000000005</c:v>
                </c:pt>
                <c:pt idx="3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4E-4819-B990-A81EDC9FCB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Rnd Forest</c:v>
                </c:pt>
                <c:pt idx="2">
                  <c:v>SVM</c:v>
                </c:pt>
                <c:pt idx="3">
                  <c:v>Rég. Log.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0.82440000000000002</c:v>
                </c:pt>
                <c:pt idx="1">
                  <c:v>0.8145</c:v>
                </c:pt>
                <c:pt idx="2">
                  <c:v>0.79330000000000001</c:v>
                </c:pt>
                <c:pt idx="3">
                  <c:v>0.82299999999999995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4E-4819-B990-A81EDC9FCB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CV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AB-4594-A061-340935579792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AB-4594-A061-340935579792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AB-4594-A061-340935579792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AB-4594-A061-34093557979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Rnd Forest</c:v>
                </c:pt>
                <c:pt idx="2">
                  <c:v>SVM</c:v>
                </c:pt>
                <c:pt idx="3">
                  <c:v>Rég. Log.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0.67300000000000004</c:v>
                </c:pt>
                <c:pt idx="1">
                  <c:v>0.63400000000000001</c:v>
                </c:pt>
                <c:pt idx="2">
                  <c:v>0.629</c:v>
                </c:pt>
                <c:pt idx="3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AB-4594-A061-3409355797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471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uiniMaroua/MiniProjet-ML-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" cy="50794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"/>
            <a:ext cx="5394960" cy="50794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548640"/>
            <a:ext cx="4114800" cy="4114800"/>
          </a:xfrm>
          <a:prstGeom prst="ellipse">
            <a:avLst/>
          </a:prstGeom>
          <a:solidFill>
            <a:srgbClr val="DBEAFE">
              <a:alpha val="7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365760"/>
            <a:ext cx="2560320" cy="25603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200400"/>
            <a:ext cx="1828800" cy="182880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2004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Classification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149961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3C5FD"/>
                </a:solidFill>
              </a:rPr>
              <a:t>Automatique du Diabète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Pima Indians Diabetes — UCI Repository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761488"/>
            <a:ext cx="21945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44368"/>
            <a:ext cx="4937760" cy="530352"/>
          </a:xfrm>
          <a:prstGeom prst="rect">
            <a:avLst/>
          </a:prstGeom>
          <a:solidFill>
            <a:srgbClr val="0F2A55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44368"/>
            <a:ext cx="54864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9443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Présentée par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29443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Maroua Jouini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584448"/>
            <a:ext cx="4937760" cy="530352"/>
          </a:xfrm>
          <a:prstGeom prst="rect">
            <a:avLst/>
          </a:prstGeom>
          <a:solidFill>
            <a:srgbClr val="0F2A55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584448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5844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Encadrante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358444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Dr. Fadoua Bouafif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224528"/>
            <a:ext cx="4937760" cy="530352"/>
          </a:xfrm>
          <a:prstGeom prst="rect">
            <a:avLst/>
          </a:prstGeom>
          <a:solidFill>
            <a:srgbClr val="0F2A5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224528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2245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40" y="42245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26 Avril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Logistic Regression  ·  Random Forest  ·  SVM  ·  XGBoost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Contexte &amp; Motivation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C5FD"/>
                </a:solidFill>
              </a:rPr>
              <a:t>Le diabète — un enjeu mondial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64008" cy="3840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🌍  Le Diabète dans le Monde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840480" cy="8961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5506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</a:rPr>
              <a:t>537M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83080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adultes atteints (2021)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70048"/>
            <a:ext cx="3840480" cy="896112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643M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83080" y="28712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attendus d'ici 2030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739896"/>
            <a:ext cx="3840480" cy="896112"/>
          </a:xfrm>
          <a:prstGeom prst="rect">
            <a:avLst/>
          </a:prstGeom>
          <a:solidFill>
            <a:srgbClr val="DBEAF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</a:rPr>
              <a:t>+16%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783080" y="39410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d'augmentation en 10 ans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2062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24128"/>
            <a:ext cx="64008" cy="3840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🎯  Objectif du Projet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28032" y="1572768"/>
            <a:ext cx="388620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57276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Prédire le diabète à partir de données médicales simples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235915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2677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Dépistage précoce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31152" y="22677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Détecter avant complications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298094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28895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Prévention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1152" y="288950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Réduire les risques médicaux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28032" y="360273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351129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Comparaison ML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5112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 algorithmes évalués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28032" y="422452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4133088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Aide à la décision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31152" y="413308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Optimiser les ressources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&amp; Analyse Exploratoire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C5FD"/>
                </a:solidFill>
              </a:rPr>
              <a:t>UCI Machine Learning Repository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64008" cy="3840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Distribution des Classes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481328"/>
          <a:ext cx="3977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663440" y="1024128"/>
            <a:ext cx="42062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24128"/>
            <a:ext cx="64008" cy="3840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Variables Médicales Clés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28032" y="1673352"/>
            <a:ext cx="6400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5819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Glucose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15819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Corrélation 0.47 — prédicteur #1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28032" y="2194560"/>
            <a:ext cx="640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BMI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21031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Facteur de risque majeur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28032" y="2715768"/>
            <a:ext cx="64008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2624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Âge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2624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Distribution asymétrique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28032" y="3236976"/>
            <a:ext cx="6400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1455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Insulin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314553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Valeurs nulles → bruit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28032" y="3758184"/>
            <a:ext cx="6400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36667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Pregnancies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0" y="366674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Corrélé à l'âge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28032" y="4251960"/>
            <a:ext cx="3904488" cy="475488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28032" y="4251960"/>
            <a:ext cx="3904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🔧  80% Train (614) / 20% Test (154)  ·  Stratifié  ·  StandardScaler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Comparaison des Performances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C5FD"/>
                </a:solidFill>
              </a:rPr>
              <a:t>4 modèles — Test set 154 patients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10312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Rég. Logistique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274320" y="3401568"/>
          <a:ext cx="859536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Meilleur Modèle : XGBoost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C5FD"/>
                </a:solidFill>
              </a:rPr>
              <a:t>Features importantes &amp; analyse clinique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920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</a:rPr>
              <a:t>0.6731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F1-Score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987552"/>
            <a:ext cx="1920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87552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</a:rPr>
              <a:t>77.92%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Accuracy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987552"/>
            <a:ext cx="1920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87552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</a:rPr>
              <a:t>0.8244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AUC-ROC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03136" y="987552"/>
            <a:ext cx="19202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987552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</a:rPr>
              <a:t>70.00%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03136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Precision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416052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359152"/>
            <a:ext cx="64008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505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Features Importantes (Random Forest)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2880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Glucose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48840" y="2935224"/>
            <a:ext cx="201168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2880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26%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200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3255264"/>
            <a:ext cx="139270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18%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48840" y="3575304"/>
            <a:ext cx="1160585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3520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DiabetesPedigreeFunc.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48840" y="3895344"/>
            <a:ext cx="928468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38404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BloodPressure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148840" y="4215384"/>
            <a:ext cx="61897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41605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8%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480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Pregnancies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148840" y="4535424"/>
            <a:ext cx="541606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44805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7%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2359152"/>
            <a:ext cx="416052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359152"/>
            <a:ext cx="64008" cy="2514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2450592"/>
            <a:ext cx="3813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💡  Interprétation Clinique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46320" y="2971800"/>
            <a:ext cx="5486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01768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Glucose #1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36208" y="2880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Principal marqueur biologique du diabète (corrél. 0.47). Un taux élevé à jeun est le signe clinique le plus fiable.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474720"/>
            <a:ext cx="5486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01768" y="33832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BMI #2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36208" y="3383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L'obésité multiplie le risque de diabète de type 2. Cohérent avec toutes les études épidémiologiques.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977640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1768" y="38862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Cohérence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236208" y="38862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Le classement Glucose &gt; BMI &gt; Âge est parfaitement aligné avec la littérature médicale actuelle.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46320" y="4480560"/>
            <a:ext cx="54864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01768" y="4389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Cliniquement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36208" y="4389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Ces 3 variables suffisent pour un pré-dépistage rapide en milieu médical.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Classement Final des Modèles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C5FD"/>
                </a:solidFill>
              </a:rPr>
              <a:t>Évaluation F1-Score &amp; AUC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120640" cy="621792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0241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XGBoost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38144" y="102412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F1: 0.6731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62272" y="102412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AUC: 0.8244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5564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7552" y="17556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175564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F1: 0.6337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175564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AUC: 0.8145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5120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8716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7552" y="24871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SVM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38144" y="24871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F1: 0.6286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62272" y="248716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AUC: 0.7933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1868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7552" y="32186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Rég. Logistique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38144" y="32186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F1: 0.5600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62272" y="321868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AUC: 0.8230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1024128"/>
            <a:ext cx="3200400" cy="2907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33872" y="11155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Validation Croisée 5-Fold (F1)</a:t>
            </a:r>
            <a:endParaRPr lang="en-US" sz="11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669280" y="1417320"/>
          <a:ext cx="32004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274320" y="4096512"/>
            <a:ext cx="8595360" cy="749808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4096512"/>
            <a:ext cx="87050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 Pourquoi XGBoost domine ? </a:t>
            </a:r>
            <a:r>
              <a:rPr lang="en-US" sz="1050" dirty="0">
                <a:solidFill>
                  <a:srgbClr val="334155"/>
                </a:solidFill>
              </a:rPr>
              <a:t>Le Gradient Boosting </a:t>
            </a:r>
            <a:r>
              <a:rPr lang="en-US" sz="1050" dirty="0" err="1">
                <a:solidFill>
                  <a:srgbClr val="334155"/>
                </a:solidFill>
              </a:rPr>
              <a:t>construit</a:t>
            </a:r>
            <a:r>
              <a:rPr lang="en-US" sz="1050" dirty="0">
                <a:solidFill>
                  <a:srgbClr val="334155"/>
                </a:solidFill>
              </a:rPr>
              <a:t> les </a:t>
            </a:r>
            <a:r>
              <a:rPr lang="en-US" sz="1050" dirty="0" err="1">
                <a:solidFill>
                  <a:srgbClr val="334155"/>
                </a:solidFill>
              </a:rPr>
              <a:t>arbres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séquentiellement</a:t>
            </a:r>
            <a:r>
              <a:rPr lang="en-US" sz="1050" dirty="0">
                <a:solidFill>
                  <a:srgbClr val="334155"/>
                </a:solidFill>
              </a:rPr>
              <a:t> et </a:t>
            </a:r>
            <a:r>
              <a:rPr lang="en-US" sz="1050" dirty="0" err="1">
                <a:solidFill>
                  <a:srgbClr val="334155"/>
                </a:solidFill>
              </a:rPr>
              <a:t>corrige</a:t>
            </a:r>
            <a:r>
              <a:rPr lang="en-US" sz="1050" dirty="0">
                <a:solidFill>
                  <a:srgbClr val="334155"/>
                </a:solidFill>
              </a:rPr>
              <a:t> à </a:t>
            </a:r>
            <a:r>
              <a:rPr lang="en-US" sz="1050" dirty="0" err="1">
                <a:solidFill>
                  <a:srgbClr val="334155"/>
                </a:solidFill>
              </a:rPr>
              <a:t>chaque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itération</a:t>
            </a:r>
            <a:r>
              <a:rPr lang="en-US" sz="1050" dirty="0">
                <a:solidFill>
                  <a:srgbClr val="334155"/>
                </a:solidFill>
              </a:rPr>
              <a:t> les </a:t>
            </a:r>
            <a:r>
              <a:rPr lang="en-US" sz="1050" dirty="0" err="1">
                <a:solidFill>
                  <a:srgbClr val="334155"/>
                </a:solidFill>
              </a:rPr>
              <a:t>erreurs</a:t>
            </a:r>
            <a:r>
              <a:rPr lang="en-US" sz="1050" dirty="0">
                <a:solidFill>
                  <a:srgbClr val="334155"/>
                </a:solidFill>
              </a:rPr>
              <a:t> du </a:t>
            </a:r>
            <a:r>
              <a:rPr lang="en-US" sz="1050" dirty="0" err="1">
                <a:solidFill>
                  <a:srgbClr val="334155"/>
                </a:solidFill>
              </a:rPr>
              <a:t>modèle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précédent</a:t>
            </a:r>
            <a:r>
              <a:rPr lang="en-US" sz="1050" dirty="0">
                <a:solidFill>
                  <a:srgbClr val="334155"/>
                </a:solidFill>
              </a:rPr>
              <a:t>, </a:t>
            </a:r>
            <a:r>
              <a:rPr lang="en-US" sz="1050" dirty="0" err="1">
                <a:solidFill>
                  <a:srgbClr val="334155"/>
                </a:solidFill>
              </a:rPr>
              <a:t>ce</a:t>
            </a:r>
            <a:r>
              <a:rPr lang="en-US" sz="1050" dirty="0">
                <a:solidFill>
                  <a:srgbClr val="334155"/>
                </a:solidFill>
              </a:rPr>
              <a:t> qui le rend </a:t>
            </a:r>
            <a:r>
              <a:rPr lang="en-US" sz="1050" dirty="0" err="1">
                <a:solidFill>
                  <a:srgbClr val="334155"/>
                </a:solidFill>
              </a:rPr>
              <a:t>supérieur</a:t>
            </a:r>
            <a:r>
              <a:rPr lang="en-US" sz="1050" dirty="0">
                <a:solidFill>
                  <a:srgbClr val="334155"/>
                </a:solidFill>
              </a:rPr>
              <a:t> sur des </a:t>
            </a:r>
            <a:r>
              <a:rPr lang="en-US" sz="1050" dirty="0" err="1">
                <a:solidFill>
                  <a:srgbClr val="334155"/>
                </a:solidFill>
              </a:rPr>
              <a:t>données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médicales</a:t>
            </a:r>
            <a:r>
              <a:rPr lang="en-US" sz="1050" dirty="0">
                <a:solidFill>
                  <a:srgbClr val="334155"/>
                </a:solidFill>
              </a:rPr>
              <a:t> avec interactions non-</a:t>
            </a:r>
            <a:r>
              <a:rPr lang="en-US" sz="1050" dirty="0" err="1">
                <a:solidFill>
                  <a:srgbClr val="334155"/>
                </a:solidFill>
              </a:rPr>
              <a:t>linéaires</a:t>
            </a:r>
            <a:r>
              <a:rPr lang="en-US" sz="1050" dirty="0">
                <a:solidFill>
                  <a:srgbClr val="334155"/>
                </a:solidFill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Limites &amp; Perspectives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C5FD"/>
                </a:solidFill>
              </a:rPr>
              <a:t>Analyse critique et pistes d'amélioration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64008" cy="3840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⚠️  Limites de l'Étude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" y="1700784"/>
            <a:ext cx="310896" cy="310896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6093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Données des années 1990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16093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Contexte médical différent d'aujourd'hui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" y="2322576"/>
            <a:ext cx="310896" cy="310896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223113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Population spécifique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23113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Femmes Pima d'Arizona uniquement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" y="2944368"/>
            <a:ext cx="310896" cy="310896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285292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Non représentatif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85292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 s'applique pas directement à la Tunisie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" y="3566160"/>
            <a:ext cx="310896" cy="310896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4747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Taille limitée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78608" y="34747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768 patients — dataset modeste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" y="4187952"/>
            <a:ext cx="310896" cy="310896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40965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Valeurs nulles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78608" y="40965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Insulin &amp; Glucose ont des zéros aberrants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024128"/>
            <a:ext cx="42062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024128"/>
            <a:ext cx="64008" cy="3840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🚀  Perspectives d'Amélioration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28032" y="170078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6093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Traitement des nulls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67728" y="1609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Imputation par médiane ou KNN pour Insulin/Glucose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28032" y="232257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223113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Hyperparameter Tuning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67728" y="22311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GridSearchCV / RandomizedSearchCV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29443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285292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Ensemble / Stacking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67728" y="28529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Combiner les modèles pour plus de robustesse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28032" y="356616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34747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SHAP Values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67728" y="34747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Explicabilité clinique des prédictions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28032" y="41879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40965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Données Tunisiennes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67728" y="409651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Valider sur une population locale réelle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663440" cy="50794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</a:rPr>
              <a:t>Meilleur Modèle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7706"/>
                </a:solidFill>
              </a:rPr>
              <a:t>XGBoost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1170432" cy="658368"/>
          </a:xfrm>
          <a:prstGeom prst="rect">
            <a:avLst/>
          </a:prstGeom>
          <a:solidFill>
            <a:srgbClr val="0F2A55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0.673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01368" y="1920240"/>
            <a:ext cx="1170432" cy="658368"/>
          </a:xfrm>
          <a:prstGeom prst="rect">
            <a:avLst/>
          </a:prstGeom>
          <a:solidFill>
            <a:srgbClr val="0F2A55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19202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0.824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01368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AUC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91256" y="1920240"/>
            <a:ext cx="1170432" cy="658368"/>
          </a:xfrm>
          <a:prstGeom prst="rect">
            <a:avLst/>
          </a:prstGeom>
          <a:solidFill>
            <a:srgbClr val="0F2A55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9202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77.9%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91256" y="23042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Acc.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✓  4 modèles de ML comparés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0906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✓  768 patients, 8 variables médicales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343814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✓  Dataset UCI — Pima Indians Diabetes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4114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Classification du Diabète — ML Project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82880"/>
            <a:ext cx="40690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10912" y="274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Classement (F1-Score)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658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1. XGBoost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96912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7706"/>
                </a:solidFill>
              </a:rPr>
              <a:t>0.6731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905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2. Random Forest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96912" y="9052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0.6337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1152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3. SVM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96912" y="1152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0.6286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4. Rég. Logistique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96912" y="1399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0.5600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901952"/>
            <a:ext cx="40690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901952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993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🔗  Code Source — GitHub</a:t>
            </a:r>
            <a:endParaRPr lang="en-US" sz="1200" dirty="0"/>
          </a:p>
        </p:txBody>
      </p:sp>
      <p:sp>
        <p:nvSpPr>
          <p:cNvPr id="34" name="Text 32">
            <a:hlinkClick r:id="rId3"/>
          </p:cNvPr>
          <p:cNvSpPr/>
          <p:nvPr/>
        </p:nvSpPr>
        <p:spPr>
          <a:xfrm>
            <a:off x="502920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891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github.com/JouiniMaroua/MiniProjet-ML-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697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Notebook · Dataset · Rapport PDF · Graphiques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090672"/>
            <a:ext cx="4069080" cy="198424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090672"/>
            <a:ext cx="40690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18688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6B"/>
                </a:solidFill>
              </a:rPr>
              <a:t>Merci de votre attention !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5010912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Je reste à votre disposition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pour répondre à vos questions.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0" y="4498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642</Words>
  <Application>Microsoft Office PowerPoint</Application>
  <PresentationFormat>Affichage à l'écran (16:9)</PresentationFormat>
  <Paragraphs>206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du Diabète</dc:title>
  <dc:subject>PptxGenJS Presentation</dc:subject>
  <dc:creator>PptxGenJS</dc:creator>
  <cp:lastModifiedBy>maroua jouini</cp:lastModifiedBy>
  <cp:revision>2</cp:revision>
  <dcterms:created xsi:type="dcterms:W3CDTF">2026-04-22T16:35:30Z</dcterms:created>
  <dcterms:modified xsi:type="dcterms:W3CDTF">2026-04-22T16:51:04Z</dcterms:modified>
</cp:coreProperties>
</file>